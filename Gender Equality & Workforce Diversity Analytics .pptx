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7" r:id="rId31"/>
  </p:sldIdLst>
  <p:sldSz cx="12192000" cy="6858000"/>
  <p:notesSz cx="6858000" cy="9144000"/>
  <p:embeddedFontLst>
    <p:embeddedFont>
      <p:font typeface="Outfit" panose="020B0604020202020204" charset="0"/>
      <p:regular r:id="rId33"/>
      <p:bold r:id="rId34"/>
    </p:embeddedFont>
    <p:embeddedFont>
      <p:font typeface="Outfit SemiBold" panose="020B0604020202020204" charset="0"/>
      <p:regular r:id="rId35"/>
      <p:bold r:id="rId36"/>
    </p:embeddedFont>
    <p:embeddedFont>
      <p:font typeface="Plus Jakarta Sans" panose="020B0604020202020204" charset="0"/>
      <p:regular r:id="rId37"/>
      <p:bold r:id="rId38"/>
      <p:italic r:id="rId39"/>
      <p:boldItalic r:id="rId40"/>
    </p:embeddedFont>
    <p:embeddedFont>
      <p:font typeface="Plus Jakarta Sans SemiBold" panose="020B060402020202020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CBA80C-6E6A-4AA7-A7D8-3BA3381D9091}">
  <a:tblStyle styleId="{57CBA80C-6E6A-4AA7-A7D8-3BA3381D909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45343" y="2481262"/>
            <a:ext cx="10501312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F8F9FA"/>
                </a:solidFill>
                <a:latin typeface="Outfit"/>
                <a:ea typeface="Outfit"/>
                <a:cs typeface="Outfit"/>
                <a:sym typeface="Outfit"/>
              </a:rPr>
              <a:t>Gender Equality &amp; Workforce Diversity Analytics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83581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57250" y="1983581"/>
            <a:ext cx="500062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Global Mandate: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Aligned with the United Nations Sustainable Development Goal 5 to achieve true gender equality.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57250" y="2988468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Strategic Purpose: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Leverage Data Analytics and Machine Learning to scientifically audit workforce dynamics.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57250" y="3721893"/>
            <a:ext cx="500062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Scope Identification: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Transition from anecdotal assumptions to hard, quantifiable data concerning diversity.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57250" y="4726781"/>
            <a:ext cx="500062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Systemic Focus: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Uncover hidden biases across compensation structures, promotion funnels, and executive leadership selection.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83581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1983581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8A9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988468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8A9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721893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8A9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4726781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8A9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Addressing SDG Goal 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2574131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0" i="0" u="none" strike="noStrike" cap="none">
                <a:solidFill>
                  <a:srgbClr val="E4B363"/>
                </a:solidFill>
                <a:latin typeface="Outfit"/>
                <a:ea typeface="Outfit"/>
                <a:cs typeface="Outfit"/>
                <a:sym typeface="Outfit"/>
              </a:rPr>
              <a:t>120K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4098131"/>
            <a:ext cx="52863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Employees Audited Globally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334125" y="2574131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8A9A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Massive Data Footprint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334125" y="3050381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initiative represents one of the most comprehensive internal audits conducted, spanning a massive global workforce of 120,000 active employees.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334125" y="4055268"/>
            <a:ext cx="5286375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By analyzing such a vast dataset, the statistical significance of our findings guarantees that identified trends are deeply embedded systemic realities, rather than isolated departmental anomalies.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Unprecedented Project Scale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0318"/>
            <a:ext cx="5286375" cy="261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50318"/>
            <a:ext cx="5286375" cy="2614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962025" y="2940843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8A9A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1. Pay Gap Audit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62025" y="3417093"/>
            <a:ext cx="4505325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Rigorously quantify the median salary difference between genders. This goes beyond base salary, encompassing total compensation including annual bonuses, stock options, and retention packages across identical job levels.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724650" y="2940843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8A9A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2. Promotion Bias Analysis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24650" y="3417093"/>
            <a:ext cx="4505325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Compare historical promotion rates and track velocity of career advancement. The goal is to identify mathematical predictors of advancement and isolate instances where demographic factors outweigh pure performance metrics.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Core Analytical Objectives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40743"/>
            <a:ext cx="3492549" cy="3433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40743"/>
            <a:ext cx="3492549" cy="3433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40743"/>
            <a:ext cx="3492549" cy="343376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866775" y="3112293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8A9A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Workforce Distribution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66775" y="3588543"/>
            <a:ext cx="2901999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Visually map gender density across all organizational strata, from entry-level departments up to the C-suite executive board.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645074" y="3112293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8A9A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Predictive Modeling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645074" y="3588543"/>
            <a:ext cx="2901999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 custom Machine Learning models to forecast employee promotions, thereby exposing the hidden weights currently applied to advancement criteria.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423374" y="3112293"/>
            <a:ext cx="3047099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8A9A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Employee Segmentation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423374" y="3921918"/>
            <a:ext cx="2901999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Utilize clustering algorithms to group employees and identify distinct demographic profiles that are disproportionately marginalized or favored.</a:t>
            </a:r>
            <a:endParaRPr/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0269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50269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502693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Core Analytical Objectives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/>
          <p:nvPr/>
        </p:nvSpPr>
        <p:spPr>
          <a:xfrm>
            <a:off x="5715000" y="2638425"/>
            <a:ext cx="762000" cy="38100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2095500" y="2962275"/>
            <a:ext cx="80010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E4B363"/>
                </a:solidFill>
                <a:latin typeface="Outfit"/>
                <a:ea typeface="Outfit"/>
                <a:cs typeface="Outfit"/>
                <a:sym typeface="Outfit"/>
              </a:rPr>
              <a:t>Technical Architecture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1700"/>
            <a:ext cx="3492549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71700"/>
            <a:ext cx="3492549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71700"/>
            <a:ext cx="3492549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866775" y="314325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Data Manipulation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866775" y="3619500"/>
            <a:ext cx="2901999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Driven entirely by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Python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Utilized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Pandas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 complex DataFrame operations, aggregations, and cleaning, alongside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NumPy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 high-performance numerical computations.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4645074" y="314325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Visualization Engine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4645074" y="3619500"/>
            <a:ext cx="2901999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Generated high-contrast, executive-ready reports and plots utilizing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Matplotlib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Seaborn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 make abstract data instantly interpretable.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423374" y="314325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Machine Learning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423374" y="3619500"/>
            <a:ext cx="2901999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Powered by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Scikit-Learn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Deployed advanced Random Forest classifiers for predictions and K-Means algorithms for unsupervised clustering.</a:t>
            </a:r>
            <a:endParaRPr/>
          </a:p>
        </p:txBody>
      </p:sp>
      <p:pic>
        <p:nvPicPr>
          <p:cNvPr id="166" name="Google Shape;16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336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5336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5336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Tech Stack Breakdown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0318"/>
            <a:ext cx="5286375" cy="261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50318"/>
            <a:ext cx="5286375" cy="261461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962025" y="2940843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8A9A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Label Standardization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962025" y="3417093"/>
            <a:ext cx="4505325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Employed Scikit-Learn's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LabelEncoder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 convert complex categorical text data (e.g., Department names, Job Roles) into machine-readable numerical formats, ensuring algorithmic compatibility without losing contextual fidelity.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724650" y="2940843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8A9A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Feature Scaling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724650" y="3417093"/>
            <a:ext cx="4505325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Implemented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StandardScaler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 normalize variance across vastly different numerical ranges (e.g., Age vs. Salary). This prevents variables with larger magnitudes from unfairly dominating the Machine Learning models.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Preprocessing Infrastructure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857250" y="2047875"/>
            <a:ext cx="500062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Supervised Learning: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 Random Forest classifier acts as our primary predictive engine, analyzing historical data to understand "who gets promoted and why."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857250" y="3052762"/>
            <a:ext cx="5000625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Unsupervised Learning: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K-Means clustering operates without pre-defined labels, finding hidden mathematical similarities among employees that human analysts might miss.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857250" y="4329112"/>
            <a:ext cx="500062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Bias Detection: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By analyzing the feature importance outputs of these models, we transition from observing bias to mathematically proving its specific drivers.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20478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8A9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571500" y="3052762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8A9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571500" y="4329112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8A9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Machine Learning Framework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/>
          <p:nvPr/>
        </p:nvSpPr>
        <p:spPr>
          <a:xfrm>
            <a:off x="5715000" y="2638425"/>
            <a:ext cx="762000" cy="38100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2095500" y="2962275"/>
            <a:ext cx="80010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E4B363"/>
                </a:solidFill>
                <a:latin typeface="Outfit"/>
                <a:ea typeface="Outfit"/>
                <a:cs typeface="Outfit"/>
                <a:sym typeface="Outfit"/>
              </a:rPr>
              <a:t>The Data Pipeline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2286000" y="3876675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Ensuring data integrity, handling anomalies, and engineering actionable metrics.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1809750" y="2686050"/>
            <a:ext cx="9048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Gender Standardization: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Normalized highly fractured gender labels (e.g., "M", "female", "NB", "Male_1") into a strict, unified format: Male, Female, Non-Binary.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1809750" y="3467100"/>
            <a:ext cx="9048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Outlier Eradication: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Filtered Age parameters strictly to a valid working range (18–70) and systematically handled impossible entries, such as negative Experience_Years.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1809750" y="4248150"/>
            <a:ext cx="9048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Record Integrity Validation: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Dropped any records with fundamentally missing demographic target data (like gender) to ensure the baseline audit metrics remained impeccably accurate.</a:t>
            </a:r>
            <a:endParaRPr/>
          </a:p>
        </p:txBody>
      </p:sp>
      <p:pic>
        <p:nvPicPr>
          <p:cNvPr id="212" name="Google Shape;21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7003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4813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262437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Data Cleaning Protocol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0318"/>
            <a:ext cx="5286375" cy="261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50318"/>
            <a:ext cx="5286375" cy="261461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/>
          <p:nvPr/>
        </p:nvSpPr>
        <p:spPr>
          <a:xfrm>
            <a:off x="962025" y="2940843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8A9A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Challenge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962025" y="3417093"/>
            <a:ext cx="4505325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 a dataset of 120,000 employees, missing compensation data (salaries and bonuses) is inevitable due to varied HR software migrations, recent acquisitions, and simple administrative errors. Deleting these records would compromise scale.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6724650" y="2940843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8A9A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Median Imputation Solution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6724650" y="3417093"/>
            <a:ext cx="4505325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Instead of global averages, missing salaries and bonuses were precisely imputed using the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median values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strictly relative to the employee's specific </a:t>
            </a:r>
            <a:r>
              <a:rPr lang="en-US" sz="1425" b="0" i="1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Department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</a:t>
            </a:r>
            <a:r>
              <a:rPr lang="en-US" sz="1425" b="0" i="1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Job_Level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preserving intra-departmental variance.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Handling Missing Data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/>
          <p:cNvSpPr txBox="1"/>
          <p:nvPr/>
        </p:nvSpPr>
        <p:spPr>
          <a:xfrm>
            <a:off x="857250" y="2047875"/>
            <a:ext cx="500062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Total_Compensation: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Base Annual_Salary combined with total allocated Bonus. Crucial because base pay may be equal, but bonus distribution often harbors hidden bias.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857250" y="3052762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Pay_Per_Experience: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Total compensation normalized mathematically by years of professional experience.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857250" y="3786187"/>
            <a:ext cx="5000625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Objective: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These synthetic features allow us to compare an employee's value exactly against their tenure, removing the excuse of "seniority" from pay gap discussions.</a:t>
            </a:r>
            <a:endParaRPr/>
          </a:p>
        </p:txBody>
      </p:sp>
      <p:pic>
        <p:nvPicPr>
          <p:cNvPr id="237" name="Google Shape;23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478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571500" y="20478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8A9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571500" y="3052762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8A9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571500" y="3786187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8A9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Feature Engineering: Compensation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7431"/>
            <a:ext cx="3492549" cy="3100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07431"/>
            <a:ext cx="3492549" cy="3100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07431"/>
            <a:ext cx="3492549" cy="3100387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/>
          <p:cNvSpPr txBox="1"/>
          <p:nvPr/>
        </p:nvSpPr>
        <p:spPr>
          <a:xfrm>
            <a:off x="866775" y="3278981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Pay_Gap_Index</a:t>
            </a:r>
            <a:endParaRPr/>
          </a:p>
        </p:txBody>
      </p:sp>
      <p:sp>
        <p:nvSpPr>
          <p:cNvPr id="251" name="Google Shape;251;p26"/>
          <p:cNvSpPr txBox="1"/>
          <p:nvPr/>
        </p:nvSpPr>
        <p:spPr>
          <a:xfrm>
            <a:off x="866775" y="3755231"/>
            <a:ext cx="2901999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Calculates the exact percentage deviation of a specific gender's median salary relative to the overarching departmental median.</a:t>
            </a:r>
            <a:endParaRPr/>
          </a:p>
        </p:txBody>
      </p:sp>
      <p:sp>
        <p:nvSpPr>
          <p:cNvPr id="252" name="Google Shape;252;p26"/>
          <p:cNvSpPr txBox="1"/>
          <p:nvPr/>
        </p:nvSpPr>
        <p:spPr>
          <a:xfrm>
            <a:off x="4645074" y="3278981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Diversity_Score</a:t>
            </a:r>
            <a:endParaRPr/>
          </a:p>
        </p:txBody>
      </p:sp>
      <p:sp>
        <p:nvSpPr>
          <p:cNvPr id="253" name="Google Shape;253;p26"/>
          <p:cNvSpPr txBox="1"/>
          <p:nvPr/>
        </p:nvSpPr>
        <p:spPr>
          <a:xfrm>
            <a:off x="4645074" y="3755231"/>
            <a:ext cx="2901999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proprietary weighted index (ranging 0–1) calculated per employee based on gender representation, promotion history, and training investment.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8423374" y="3278981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Hiring Ratio</a:t>
            </a:r>
            <a:endParaRPr/>
          </a:p>
        </p:txBody>
      </p:sp>
      <p:sp>
        <p:nvSpPr>
          <p:cNvPr id="255" name="Google Shape;255;p26"/>
          <p:cNvSpPr txBox="1"/>
          <p:nvPr/>
        </p:nvSpPr>
        <p:spPr>
          <a:xfrm>
            <a:off x="8423374" y="3755231"/>
            <a:ext cx="2901999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rolling metric tracking the real-time Male to Female intake proportion, identifying bias at the earliest stage of the employee lifecycle.</a:t>
            </a:r>
            <a:endParaRPr/>
          </a:p>
        </p:txBody>
      </p:sp>
      <p:pic>
        <p:nvPicPr>
          <p:cNvPr id="256" name="Google Shape;256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69381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669381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66938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Feature Engineering: Diversity Metrics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7"/>
          <p:cNvSpPr/>
          <p:nvPr/>
        </p:nvSpPr>
        <p:spPr>
          <a:xfrm>
            <a:off x="5715000" y="2638425"/>
            <a:ext cx="762000" cy="38100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1375409" y="2962275"/>
            <a:ext cx="944118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E4B363"/>
                </a:solidFill>
                <a:latin typeface="Outfit"/>
                <a:ea typeface="Outfit"/>
                <a:cs typeface="Outfit"/>
                <a:sym typeface="Outfit"/>
              </a:rPr>
              <a:t>Key Performance Indicators (KPIs)</a:t>
            </a:r>
            <a:endParaRPr/>
          </a:p>
        </p:txBody>
      </p:sp>
      <p:sp>
        <p:nvSpPr>
          <p:cNvPr id="267" name="Google Shape;267;p27"/>
          <p:cNvSpPr txBox="1"/>
          <p:nvPr/>
        </p:nvSpPr>
        <p:spPr>
          <a:xfrm>
            <a:off x="2286000" y="3876675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Analyzing the raw outputs. The data reveals critical areas requiring immediate strategic intervention.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8"/>
          <p:cNvSpPr txBox="1"/>
          <p:nvPr/>
        </p:nvSpPr>
        <p:spPr>
          <a:xfrm>
            <a:off x="571500" y="2574131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0" i="0" u="none" strike="noStrike" cap="none">
                <a:solidFill>
                  <a:srgbClr val="E4B363"/>
                </a:solidFill>
                <a:latin typeface="Outfit"/>
                <a:ea typeface="Outfit"/>
                <a:cs typeface="Outfit"/>
                <a:sym typeface="Outfit"/>
              </a:rPr>
              <a:t>26.4%</a:t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571500" y="4098131"/>
            <a:ext cx="52863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Median Salary Difference</a:t>
            </a:r>
            <a:endParaRPr/>
          </a:p>
        </p:txBody>
      </p:sp>
      <p:sp>
        <p:nvSpPr>
          <p:cNvPr id="275" name="Google Shape;275;p28"/>
          <p:cNvSpPr txBox="1"/>
          <p:nvPr/>
        </p:nvSpPr>
        <p:spPr>
          <a:xfrm>
            <a:off x="6334125" y="2574131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8A9A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 High Priority Alert</a:t>
            </a:r>
            <a:endParaRPr/>
          </a:p>
        </p:txBody>
      </p:sp>
      <p:sp>
        <p:nvSpPr>
          <p:cNvPr id="276" name="Google Shape;276;p28"/>
          <p:cNvSpPr txBox="1"/>
          <p:nvPr/>
        </p:nvSpPr>
        <p:spPr>
          <a:xfrm>
            <a:off x="6334125" y="3050381"/>
            <a:ext cx="5286375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analysis conclusively proves a sweeping 26.4% gender pay gap across the organization. In real terms, this means women earn approximately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$26,000 less per year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 average than their male counterparts.</a:t>
            </a:r>
            <a:endParaRPr/>
          </a:p>
        </p:txBody>
      </p:sp>
      <p:sp>
        <p:nvSpPr>
          <p:cNvPr id="277" name="Google Shape;277;p28"/>
          <p:cNvSpPr txBox="1"/>
          <p:nvPr/>
        </p:nvSpPr>
        <p:spPr>
          <a:xfrm>
            <a:off x="6334125" y="4326731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disparity persists even after controlling for years of experience and job level, indicating a deep-rooted systemic issue rather than mere demographic coincidences.</a:t>
            </a:r>
            <a:endParaRPr/>
          </a:p>
        </p:txBody>
      </p:sp>
      <p:sp>
        <p:nvSpPr>
          <p:cNvPr id="278" name="Google Shape;278;p28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Global Gender Pay Gap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28750"/>
            <a:ext cx="1104900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9"/>
          <p:cNvSpPr txBox="1"/>
          <p:nvPr/>
        </p:nvSpPr>
        <p:spPr>
          <a:xfrm>
            <a:off x="571500" y="5062537"/>
            <a:ext cx="11049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disparity is not uniform. The widest gaps are concentrated in historically male-dominated sectors like Engineering (27.2%), signaling an urgent need for targeted, departmental salary audits.</a:t>
            </a: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Pay Gap Variances by Department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28750"/>
            <a:ext cx="1104900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0"/>
          <p:cNvSpPr txBox="1"/>
          <p:nvPr/>
        </p:nvSpPr>
        <p:spPr>
          <a:xfrm>
            <a:off x="571500" y="5395912"/>
            <a:ext cx="11049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data shows a severe female drop-off that aggressively accelerates transitioning from Senior to Director level roles, strangling the diverse leadership pipeline.</a:t>
            </a:r>
            <a:endParaRPr/>
          </a:p>
        </p:txBody>
      </p:sp>
      <p:sp>
        <p:nvSpPr>
          <p:cNvPr id="294" name="Google Shape;294;p30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Leadership Pipeline Breakdown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1"/>
          <p:cNvSpPr txBox="1"/>
          <p:nvPr/>
        </p:nvSpPr>
        <p:spPr>
          <a:xfrm>
            <a:off x="571500" y="2574131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0" i="0" u="none" strike="noStrike" cap="none">
                <a:solidFill>
                  <a:srgbClr val="E4B363"/>
                </a:solidFill>
                <a:latin typeface="Outfit"/>
                <a:ea typeface="Outfit"/>
                <a:cs typeface="Outfit"/>
                <a:sym typeface="Outfit"/>
              </a:rPr>
              <a:t>2.3%</a:t>
            </a:r>
            <a:endParaRPr/>
          </a:p>
        </p:txBody>
      </p:sp>
      <p:sp>
        <p:nvSpPr>
          <p:cNvPr id="301" name="Google Shape;301;p31"/>
          <p:cNvSpPr txBox="1"/>
          <p:nvPr/>
        </p:nvSpPr>
        <p:spPr>
          <a:xfrm>
            <a:off x="571500" y="4098131"/>
            <a:ext cx="52863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Promotion Gap</a:t>
            </a:r>
            <a:endParaRPr/>
          </a:p>
        </p:txBody>
      </p:sp>
      <p:sp>
        <p:nvSpPr>
          <p:cNvPr id="302" name="Google Shape;302;p31"/>
          <p:cNvSpPr txBox="1"/>
          <p:nvPr/>
        </p:nvSpPr>
        <p:spPr>
          <a:xfrm>
            <a:off x="6334125" y="2574131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8A9A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Consistent Across All Departments</a:t>
            </a:r>
            <a:endParaRPr/>
          </a:p>
        </p:txBody>
      </p:sp>
      <p:sp>
        <p:nvSpPr>
          <p:cNvPr id="303" name="Google Shape;303;p31"/>
          <p:cNvSpPr txBox="1"/>
          <p:nvPr/>
        </p:nvSpPr>
        <p:spPr>
          <a:xfrm>
            <a:off x="6334125" y="3050381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Analysis reveals a systemic promotion gap. The male promotion rate sits at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21.9%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while the female promotion rate lags at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19.6%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304" name="Google Shape;304;p31"/>
          <p:cNvSpPr txBox="1"/>
          <p:nvPr/>
        </p:nvSpPr>
        <p:spPr>
          <a:xfrm>
            <a:off x="6334125" y="4055268"/>
            <a:ext cx="5286375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While a 2.3% difference may appear small annually, this gap compounds year-over-year over a decade-long career, mathematically preventing women from reaching the C-Suite at equitable speeds.</a:t>
            </a:r>
            <a:endParaRPr/>
          </a:p>
        </p:txBody>
      </p:sp>
      <p:sp>
        <p:nvSpPr>
          <p:cNvPr id="305" name="Google Shape;305;p3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Promotion Bias Reality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2"/>
          <p:cNvSpPr txBox="1"/>
          <p:nvPr/>
        </p:nvSpPr>
        <p:spPr>
          <a:xfrm>
            <a:off x="1809750" y="2686050"/>
            <a:ext cx="9048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Training Access Gap: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 receive an average of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6.8 more training hours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 year than women. This directly impacts upskilling, resume building, and future promotion viability.</a:t>
            </a:r>
            <a:endParaRPr/>
          </a:p>
        </p:txBody>
      </p:sp>
      <p:sp>
        <p:nvSpPr>
          <p:cNvPr id="312" name="Google Shape;312;p32"/>
          <p:cNvSpPr txBox="1"/>
          <p:nvPr/>
        </p:nvSpPr>
        <p:spPr>
          <a:xfrm>
            <a:off x="1809750" y="3467100"/>
            <a:ext cx="9048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Turnover Inequality: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Female turnover is notably higher at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18.0%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compared to male turnover at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15.1%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(a 2.9% gap).</a:t>
            </a:r>
            <a:endParaRPr/>
          </a:p>
        </p:txBody>
      </p:sp>
      <p:sp>
        <p:nvSpPr>
          <p:cNvPr id="313" name="Google Shape;313;p32"/>
          <p:cNvSpPr txBox="1"/>
          <p:nvPr/>
        </p:nvSpPr>
        <p:spPr>
          <a:xfrm>
            <a:off x="1809750" y="4248150"/>
            <a:ext cx="9048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Result: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We are losing female talent faster than we can promote them, heavily driven by lack of development opportunities and persistent compensation gaps.</a:t>
            </a:r>
            <a:endParaRPr/>
          </a:p>
        </p:txBody>
      </p:sp>
      <p:pic>
        <p:nvPicPr>
          <p:cNvPr id="314" name="Google Shape;314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700337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481387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262437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"Hidden" Disparities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28750"/>
            <a:ext cx="11049000" cy="419121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3"/>
          <p:cNvSpPr txBox="1"/>
          <p:nvPr/>
        </p:nvSpPr>
        <p:spPr>
          <a:xfrm>
            <a:off x="571500" y="5743575"/>
            <a:ext cx="11049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trendline clearly illustrates female attrition steadily increasing over the last 3 years, confirming retention strategies are failing specific demographic segments.</a:t>
            </a:r>
            <a:endParaRPr/>
          </a:p>
        </p:txBody>
      </p:sp>
      <p:sp>
        <p:nvSpPr>
          <p:cNvPr id="325" name="Google Shape;325;p33"/>
          <p:cNvSpPr txBox="1"/>
          <p:nvPr/>
        </p:nvSpPr>
        <p:spPr>
          <a:xfrm>
            <a:off x="3471862" y="5257800"/>
            <a:ext cx="2505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8A9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— Female Turnover (Rising to 18%)</a:t>
            </a:r>
            <a:endParaRPr dirty="0"/>
          </a:p>
        </p:txBody>
      </p:sp>
      <p:sp>
        <p:nvSpPr>
          <p:cNvPr id="326" name="Google Shape;326;p33"/>
          <p:cNvSpPr txBox="1"/>
          <p:nvPr/>
        </p:nvSpPr>
        <p:spPr>
          <a:xfrm>
            <a:off x="6262687" y="5257800"/>
            <a:ext cx="24574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4B36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— Male Turnover (Stable at ~15%)</a:t>
            </a:r>
            <a:endParaRPr/>
          </a:p>
        </p:txBody>
      </p:sp>
      <p:sp>
        <p:nvSpPr>
          <p:cNvPr id="327" name="Google Shape;327;p33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5-Year Turnover Trends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4"/>
          <p:cNvSpPr/>
          <p:nvPr/>
        </p:nvSpPr>
        <p:spPr>
          <a:xfrm>
            <a:off x="5715000" y="2795587"/>
            <a:ext cx="762000" cy="38100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4"/>
          <p:cNvSpPr txBox="1"/>
          <p:nvPr/>
        </p:nvSpPr>
        <p:spPr>
          <a:xfrm>
            <a:off x="2505551" y="3119437"/>
            <a:ext cx="718089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E4B363"/>
                </a:solidFill>
                <a:latin typeface="Outfit"/>
                <a:ea typeface="Outfit"/>
                <a:cs typeface="Outfit"/>
                <a:sym typeface="Outfit"/>
              </a:rPr>
              <a:t>Machine Learning Insights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5"/>
          <p:cNvSpPr txBox="1"/>
          <p:nvPr/>
        </p:nvSpPr>
        <p:spPr>
          <a:xfrm>
            <a:off x="857250" y="2047875"/>
            <a:ext cx="5000625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Task: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We trained a Random Forest model to predict if an employee is likely to be promoted based entirely on their performance reviews, training hours, and current compensation.</a:t>
            </a:r>
            <a:endParaRPr/>
          </a:p>
        </p:txBody>
      </p:sp>
      <p:sp>
        <p:nvSpPr>
          <p:cNvPr id="343" name="Google Shape;343;p35"/>
          <p:cNvSpPr txBox="1"/>
          <p:nvPr/>
        </p:nvSpPr>
        <p:spPr>
          <a:xfrm>
            <a:off x="857250" y="3324225"/>
            <a:ext cx="500062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Feature Importance Extraction: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Rather than just predicting, we interrogated the model to see </a:t>
            </a:r>
            <a:r>
              <a:rPr lang="en-US" sz="1425" b="0" i="1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which variables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it relied on most heavily to make its decisions.</a:t>
            </a:r>
            <a:endParaRPr/>
          </a:p>
        </p:txBody>
      </p:sp>
      <p:sp>
        <p:nvSpPr>
          <p:cNvPr id="344" name="Google Shape;344;p35"/>
          <p:cNvSpPr txBox="1"/>
          <p:nvPr/>
        </p:nvSpPr>
        <p:spPr>
          <a:xfrm>
            <a:off x="857250" y="4329112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Result: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Performance scores were surprisingly outranked by existing compensation.</a:t>
            </a:r>
            <a:endParaRPr/>
          </a:p>
        </p:txBody>
      </p:sp>
      <p:pic>
        <p:nvPicPr>
          <p:cNvPr id="345" name="Google Shape;345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5489" y="2047875"/>
            <a:ext cx="5286375" cy="453786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5"/>
          <p:cNvSpPr txBox="1"/>
          <p:nvPr/>
        </p:nvSpPr>
        <p:spPr>
          <a:xfrm>
            <a:off x="571500" y="204787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8A9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347" name="Google Shape;347;p35"/>
          <p:cNvSpPr txBox="1"/>
          <p:nvPr/>
        </p:nvSpPr>
        <p:spPr>
          <a:xfrm>
            <a:off x="571500" y="3324225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8A9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348" name="Google Shape;348;p35"/>
          <p:cNvSpPr txBox="1"/>
          <p:nvPr/>
        </p:nvSpPr>
        <p:spPr>
          <a:xfrm>
            <a:off x="571500" y="4329112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8A9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</a:t>
            </a:r>
            <a:endParaRPr/>
          </a:p>
        </p:txBody>
      </p:sp>
      <p:sp>
        <p:nvSpPr>
          <p:cNvPr id="349" name="Google Shape;349;p3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Promotion Prediction (Random Forest)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0318"/>
            <a:ext cx="5286375" cy="261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50318"/>
            <a:ext cx="5286375" cy="2614612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6"/>
          <p:cNvSpPr txBox="1"/>
          <p:nvPr/>
        </p:nvSpPr>
        <p:spPr>
          <a:xfrm>
            <a:off x="962025" y="2940843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8A9A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Feedback Loop</a:t>
            </a:r>
            <a:endParaRPr/>
          </a:p>
        </p:txBody>
      </p:sp>
      <p:sp>
        <p:nvSpPr>
          <p:cNvPr id="358" name="Google Shape;358;p36"/>
          <p:cNvSpPr txBox="1"/>
          <p:nvPr/>
        </p:nvSpPr>
        <p:spPr>
          <a:xfrm>
            <a:off x="962025" y="3417093"/>
            <a:ext cx="4505325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ML model decisively identifies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Salary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</a:t>
            </a: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Bonus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as the top predictors for future promotion. If an employee is already paid highly, they are statistically far more likely to be promoted again.</a:t>
            </a:r>
            <a:endParaRPr/>
          </a:p>
        </p:txBody>
      </p:sp>
      <p:sp>
        <p:nvSpPr>
          <p:cNvPr id="359" name="Google Shape;359;p36"/>
          <p:cNvSpPr txBox="1"/>
          <p:nvPr/>
        </p:nvSpPr>
        <p:spPr>
          <a:xfrm>
            <a:off x="6724650" y="2940843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8A9A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Reinforcing the Hierarchy</a:t>
            </a:r>
            <a:endParaRPr/>
          </a:p>
        </p:txBody>
      </p:sp>
      <p:sp>
        <p:nvSpPr>
          <p:cNvPr id="360" name="Google Shape;360;p36"/>
          <p:cNvSpPr txBox="1"/>
          <p:nvPr/>
        </p:nvSpPr>
        <p:spPr>
          <a:xfrm>
            <a:off x="6724650" y="3417093"/>
            <a:ext cx="4505325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Because women currently suffer a 26.4% pay gap, this ML finding suggests that current compensation disparity automatically acts as a bottleneck, artificially restricting female promotion rates and compounding the bias exponentially over time.</a:t>
            </a:r>
            <a:endParaRPr/>
          </a:p>
        </p:txBody>
      </p:sp>
      <p:sp>
        <p:nvSpPr>
          <p:cNvPr id="361" name="Google Shape;361;p3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ML Finding: The Compounding Bias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5950"/>
            <a:ext cx="3492549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885950"/>
            <a:ext cx="3492549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885950"/>
            <a:ext cx="3492549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49824" y="2085975"/>
            <a:ext cx="3092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28124" y="2085975"/>
            <a:ext cx="30924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7"/>
          <p:cNvSpPr txBox="1"/>
          <p:nvPr/>
        </p:nvSpPr>
        <p:spPr>
          <a:xfrm>
            <a:off x="771525" y="4181475"/>
            <a:ext cx="324712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Cluster A: High Diversity Entry</a:t>
            </a:r>
            <a:endParaRPr/>
          </a:p>
        </p:txBody>
      </p:sp>
      <p:sp>
        <p:nvSpPr>
          <p:cNvPr id="374" name="Google Shape;374;p37"/>
          <p:cNvSpPr txBox="1"/>
          <p:nvPr/>
        </p:nvSpPr>
        <p:spPr>
          <a:xfrm>
            <a:off x="771525" y="4543425"/>
            <a:ext cx="3092499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gender parity, low compensation. Represents our massive entry-level intake.</a:t>
            </a:r>
            <a:endParaRPr dirty="0"/>
          </a:p>
        </p:txBody>
      </p:sp>
      <p:sp>
        <p:nvSpPr>
          <p:cNvPr id="375" name="Google Shape;375;p37"/>
          <p:cNvSpPr txBox="1"/>
          <p:nvPr/>
        </p:nvSpPr>
        <p:spPr>
          <a:xfrm>
            <a:off x="4549824" y="4181475"/>
            <a:ext cx="324712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Cluster B: The Squeeze</a:t>
            </a:r>
            <a:endParaRPr/>
          </a:p>
        </p:txBody>
      </p:sp>
      <p:sp>
        <p:nvSpPr>
          <p:cNvPr id="376" name="Google Shape;376;p37"/>
          <p:cNvSpPr txBox="1"/>
          <p:nvPr/>
        </p:nvSpPr>
        <p:spPr>
          <a:xfrm>
            <a:off x="4549824" y="4543425"/>
            <a:ext cx="3092499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Mid-career, rising salaries. This cluster shows the exact inflection point where female talent drops off.</a:t>
            </a:r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8328124" y="4181475"/>
            <a:ext cx="324712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Cluster C: Entrenched Execs</a:t>
            </a:r>
            <a:endParaRPr/>
          </a:p>
        </p:txBody>
      </p:sp>
      <p:sp>
        <p:nvSpPr>
          <p:cNvPr id="378" name="Google Shape;378;p37"/>
          <p:cNvSpPr txBox="1"/>
          <p:nvPr/>
        </p:nvSpPr>
        <p:spPr>
          <a:xfrm>
            <a:off x="8328124" y="4543425"/>
            <a:ext cx="3092499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Highest compensation, lowest diversity. Overwhelmingly male and isolated from the broader workforce metrics.</a:t>
            </a:r>
            <a:endParaRPr/>
          </a:p>
        </p:txBody>
      </p:sp>
      <p:sp>
        <p:nvSpPr>
          <p:cNvPr id="382" name="Google Shape;382;p3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Workforce Segmentation (K-Means)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8"/>
          <p:cNvSpPr/>
          <p:nvPr/>
        </p:nvSpPr>
        <p:spPr>
          <a:xfrm>
            <a:off x="5715000" y="2795587"/>
            <a:ext cx="762000" cy="38100"/>
          </a:xfrm>
          <a:prstGeom prst="rect">
            <a:avLst/>
          </a:prstGeom>
          <a:solidFill>
            <a:srgbClr val="48A9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8"/>
          <p:cNvSpPr txBox="1"/>
          <p:nvPr/>
        </p:nvSpPr>
        <p:spPr>
          <a:xfrm>
            <a:off x="1750456" y="3119437"/>
            <a:ext cx="869108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E4B363"/>
                </a:solidFill>
                <a:latin typeface="Outfit"/>
                <a:ea typeface="Outfit"/>
                <a:cs typeface="Outfit"/>
                <a:sym typeface="Outfit"/>
              </a:rPr>
              <a:t>Actionable Insights &amp; Directives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78856"/>
            <a:ext cx="11049000" cy="31575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7" name="Google Shape;397;p39"/>
          <p:cNvGraphicFramePr/>
          <p:nvPr>
            <p:extLst>
              <p:ext uri="{D42A27DB-BD31-4B8C-83A1-F6EECF244321}">
                <p14:modId xmlns:p14="http://schemas.microsoft.com/office/powerpoint/2010/main" val="595671100"/>
              </p:ext>
            </p:extLst>
          </p:nvPr>
        </p:nvGraphicFramePr>
        <p:xfrm>
          <a:off x="581025" y="2288381"/>
          <a:ext cx="10394850" cy="31385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3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sym typeface="Plus Jakarta Sans"/>
                        </a:rPr>
                        <a:t>Identified Issue</a:t>
                      </a:r>
                      <a:endParaRPr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sym typeface="Plus Jakarta Sans"/>
                        </a:rPr>
                        <a:t>Priority</a:t>
                      </a:r>
                      <a:endParaRPr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sym typeface="Plus Jakarta Sans"/>
                        </a:rPr>
                        <a:t>Targeted Action Plan</a:t>
                      </a:r>
                      <a:endParaRPr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sym typeface="Plus Jakarta Sans"/>
                        </a:rPr>
                        <a:t>26.4% Pay Gap</a:t>
                      </a:r>
                      <a:endParaRPr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sym typeface="Plus Jakarta Sans"/>
                        </a:rPr>
                        <a:t>CRITICAL</a:t>
                      </a:r>
                      <a:endParaRPr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sym typeface="Plus Jakarta Sans"/>
                        </a:rPr>
                        <a:t>Initiate mandatory pay equity audits; enforce rigid salary bands.</a:t>
                      </a:r>
                      <a:endParaRPr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sym typeface="Plus Jakarta Sans"/>
                        </a:rPr>
                        <a:t>33.1% Leadership Ratio</a:t>
                      </a:r>
                      <a:endParaRPr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sym typeface="Plus Jakarta Sans"/>
                        </a:rPr>
                        <a:t>CRITICAL</a:t>
                      </a:r>
                      <a:endParaRPr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sym typeface="Plus Jakarta Sans"/>
                        </a:rPr>
                        <a:t>Launch fast-track programs; enforce a 40% female C-Suite target by 2027.</a:t>
                      </a:r>
                      <a:endParaRPr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sym typeface="Plus Jakarta Sans"/>
                        </a:rPr>
                        <a:t>Promotion Disparity</a:t>
                      </a:r>
                      <a:endParaRPr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sym typeface="Plus Jakarta Sans"/>
                        </a:rPr>
                        <a:t>HIGH</a:t>
                      </a:r>
                      <a:endParaRPr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sym typeface="Plus Jakarta Sans"/>
                        </a:rPr>
                        <a:t>Implement blind promotion reviews and explicitly structured criteria.</a:t>
                      </a:r>
                      <a:endParaRPr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sym typeface="Plus Jakarta Sans"/>
                        </a:rPr>
                        <a:t>Training &amp; Turnover</a:t>
                      </a:r>
                      <a:endParaRPr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spc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sym typeface="Plus Jakarta Sans"/>
                        </a:rPr>
                        <a:t>HIGH</a:t>
                      </a:r>
                      <a:endParaRPr b="0" cap="none" spc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sym typeface="Plus Jakarta Sans"/>
                        </a:rPr>
                        <a:t>Mandate equal-access training budgets; expand parental leave and flex-work.</a:t>
                      </a:r>
                      <a:endParaRPr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8" name="Google Shape;398;p39"/>
          <p:cNvSpPr/>
          <p:nvPr/>
        </p:nvSpPr>
        <p:spPr>
          <a:xfrm>
            <a:off x="581025" y="2936081"/>
            <a:ext cx="2470249" cy="9525"/>
          </a:xfrm>
          <a:prstGeom prst="rect">
            <a:avLst/>
          </a:prstGeom>
          <a:solidFill>
            <a:srgbClr val="2A3B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9"/>
          <p:cNvSpPr/>
          <p:nvPr/>
        </p:nvSpPr>
        <p:spPr>
          <a:xfrm>
            <a:off x="3051274" y="2936081"/>
            <a:ext cx="1581894" cy="9525"/>
          </a:xfrm>
          <a:prstGeom prst="rect">
            <a:avLst/>
          </a:prstGeom>
          <a:solidFill>
            <a:srgbClr val="2A3B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9"/>
          <p:cNvSpPr/>
          <p:nvPr/>
        </p:nvSpPr>
        <p:spPr>
          <a:xfrm>
            <a:off x="4633168" y="2936081"/>
            <a:ext cx="6977806" cy="9525"/>
          </a:xfrm>
          <a:prstGeom prst="rect">
            <a:avLst/>
          </a:prstGeom>
          <a:solidFill>
            <a:srgbClr val="2A3B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9"/>
          <p:cNvSpPr/>
          <p:nvPr/>
        </p:nvSpPr>
        <p:spPr>
          <a:xfrm>
            <a:off x="581025" y="3555206"/>
            <a:ext cx="2470249" cy="9525"/>
          </a:xfrm>
          <a:prstGeom prst="rect">
            <a:avLst/>
          </a:prstGeom>
          <a:solidFill>
            <a:srgbClr val="2A3B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9"/>
          <p:cNvSpPr/>
          <p:nvPr/>
        </p:nvSpPr>
        <p:spPr>
          <a:xfrm>
            <a:off x="3051274" y="3555206"/>
            <a:ext cx="1581894" cy="9525"/>
          </a:xfrm>
          <a:prstGeom prst="rect">
            <a:avLst/>
          </a:prstGeom>
          <a:solidFill>
            <a:srgbClr val="2A3B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9"/>
          <p:cNvSpPr/>
          <p:nvPr/>
        </p:nvSpPr>
        <p:spPr>
          <a:xfrm>
            <a:off x="4633168" y="3555206"/>
            <a:ext cx="6977806" cy="9525"/>
          </a:xfrm>
          <a:prstGeom prst="rect">
            <a:avLst/>
          </a:prstGeom>
          <a:solidFill>
            <a:srgbClr val="2A3B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9"/>
          <p:cNvSpPr/>
          <p:nvPr/>
        </p:nvSpPr>
        <p:spPr>
          <a:xfrm>
            <a:off x="581025" y="4174331"/>
            <a:ext cx="2470249" cy="9525"/>
          </a:xfrm>
          <a:prstGeom prst="rect">
            <a:avLst/>
          </a:prstGeom>
          <a:solidFill>
            <a:srgbClr val="2A3B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9"/>
          <p:cNvSpPr/>
          <p:nvPr/>
        </p:nvSpPr>
        <p:spPr>
          <a:xfrm>
            <a:off x="3051274" y="4174331"/>
            <a:ext cx="1581894" cy="9525"/>
          </a:xfrm>
          <a:prstGeom prst="rect">
            <a:avLst/>
          </a:prstGeom>
          <a:solidFill>
            <a:srgbClr val="2A3B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9"/>
          <p:cNvSpPr/>
          <p:nvPr/>
        </p:nvSpPr>
        <p:spPr>
          <a:xfrm>
            <a:off x="4633168" y="4174331"/>
            <a:ext cx="6977806" cy="9525"/>
          </a:xfrm>
          <a:prstGeom prst="rect">
            <a:avLst/>
          </a:prstGeom>
          <a:solidFill>
            <a:srgbClr val="2A3B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9"/>
          <p:cNvSpPr/>
          <p:nvPr/>
        </p:nvSpPr>
        <p:spPr>
          <a:xfrm>
            <a:off x="581025" y="4793456"/>
            <a:ext cx="2470249" cy="9525"/>
          </a:xfrm>
          <a:prstGeom prst="rect">
            <a:avLst/>
          </a:prstGeom>
          <a:solidFill>
            <a:srgbClr val="2A3B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9"/>
          <p:cNvSpPr/>
          <p:nvPr/>
        </p:nvSpPr>
        <p:spPr>
          <a:xfrm>
            <a:off x="3051274" y="4793456"/>
            <a:ext cx="1581894" cy="9525"/>
          </a:xfrm>
          <a:prstGeom prst="rect">
            <a:avLst/>
          </a:prstGeom>
          <a:solidFill>
            <a:srgbClr val="2A3B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9"/>
          <p:cNvSpPr/>
          <p:nvPr/>
        </p:nvSpPr>
        <p:spPr>
          <a:xfrm>
            <a:off x="4633168" y="4793456"/>
            <a:ext cx="6977806" cy="9525"/>
          </a:xfrm>
          <a:prstGeom prst="rect">
            <a:avLst/>
          </a:prstGeom>
          <a:solidFill>
            <a:srgbClr val="2A3B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9"/>
          <p:cNvSpPr/>
          <p:nvPr/>
        </p:nvSpPr>
        <p:spPr>
          <a:xfrm>
            <a:off x="581025" y="5412581"/>
            <a:ext cx="2470249" cy="9525"/>
          </a:xfrm>
          <a:prstGeom prst="rect">
            <a:avLst/>
          </a:prstGeom>
          <a:solidFill>
            <a:srgbClr val="2A3B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9"/>
          <p:cNvSpPr/>
          <p:nvPr/>
        </p:nvSpPr>
        <p:spPr>
          <a:xfrm>
            <a:off x="3051274" y="5412581"/>
            <a:ext cx="1581894" cy="9525"/>
          </a:xfrm>
          <a:prstGeom prst="rect">
            <a:avLst/>
          </a:prstGeom>
          <a:solidFill>
            <a:srgbClr val="2A3B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9"/>
          <p:cNvSpPr/>
          <p:nvPr/>
        </p:nvSpPr>
        <p:spPr>
          <a:xfrm>
            <a:off x="4633168" y="5412581"/>
            <a:ext cx="6977806" cy="9525"/>
          </a:xfrm>
          <a:prstGeom prst="rect">
            <a:avLst/>
          </a:prstGeom>
          <a:solidFill>
            <a:srgbClr val="2A3B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9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Priority Action Matrix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0"/>
          <p:cNvSpPr txBox="1"/>
          <p:nvPr/>
        </p:nvSpPr>
        <p:spPr>
          <a:xfrm>
            <a:off x="1809750" y="2686050"/>
            <a:ext cx="9048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Decouple Promotion from Compensation: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Per the Machine Learning findings, HR must explicitly instruct evaluation committees to ignore current salary metrics when determining promotion viability.</a:t>
            </a:r>
            <a:endParaRPr/>
          </a:p>
        </p:txBody>
      </p:sp>
      <p:sp>
        <p:nvSpPr>
          <p:cNvPr id="420" name="Google Shape;420;p40"/>
          <p:cNvSpPr txBox="1"/>
          <p:nvPr/>
        </p:nvSpPr>
        <p:spPr>
          <a:xfrm>
            <a:off x="1809750" y="3467100"/>
            <a:ext cx="9048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Standardize Intake Offers: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The pay gap begins at hiring. Remove salary negotiation from the entry-level hiring process entirely to prevent aggressive negotiating tactics from establishing early, unclosable gaps.</a:t>
            </a:r>
            <a:endParaRPr/>
          </a:p>
        </p:txBody>
      </p:sp>
      <p:sp>
        <p:nvSpPr>
          <p:cNvPr id="421" name="Google Shape;421;p40"/>
          <p:cNvSpPr txBox="1"/>
          <p:nvPr/>
        </p:nvSpPr>
        <p:spPr>
          <a:xfrm>
            <a:off x="1809750" y="4248150"/>
            <a:ext cx="9048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9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Data-Driven Exit Interviews:</a:t>
            </a: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Specifically target the 18% female turnover bracket. Transition from generic exit forms to deep-dive interviews focusing on departmental culture and parental support.</a:t>
            </a:r>
            <a:endParaRPr/>
          </a:p>
        </p:txBody>
      </p:sp>
      <p:pic>
        <p:nvPicPr>
          <p:cNvPr id="422" name="Google Shape;422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700337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481387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262437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0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Addressing the "Compounding Bias"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24112"/>
            <a:ext cx="34925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24112"/>
            <a:ext cx="34925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24112"/>
            <a:ext cx="3492549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1"/>
          <p:cNvSpPr txBox="1"/>
          <p:nvPr/>
        </p:nvSpPr>
        <p:spPr>
          <a:xfrm>
            <a:off x="866775" y="33956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Data Files</a:t>
            </a:r>
            <a:endParaRPr/>
          </a:p>
        </p:txBody>
      </p:sp>
      <p:sp>
        <p:nvSpPr>
          <p:cNvPr id="435" name="Google Shape;435;p41"/>
          <p:cNvSpPr txBox="1"/>
          <p:nvPr/>
        </p:nvSpPr>
        <p:spPr>
          <a:xfrm>
            <a:off x="866775" y="3871912"/>
            <a:ext cx="2901999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cleaned_gender_data.csv (The processed raw dataset) and gender_metrics.csv (High-level KPI summary outputs).</a:t>
            </a:r>
            <a:endParaRPr/>
          </a:p>
        </p:txBody>
      </p:sp>
      <p:sp>
        <p:nvSpPr>
          <p:cNvPr id="436" name="Google Shape;436;p41"/>
          <p:cNvSpPr txBox="1"/>
          <p:nvPr/>
        </p:nvSpPr>
        <p:spPr>
          <a:xfrm>
            <a:off x="4645074" y="33956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Visual Assets</a:t>
            </a:r>
            <a:endParaRPr/>
          </a:p>
        </p:txBody>
      </p:sp>
      <p:sp>
        <p:nvSpPr>
          <p:cNvPr id="437" name="Google Shape;437;p41"/>
          <p:cNvSpPr txBox="1"/>
          <p:nvPr/>
        </p:nvSpPr>
        <p:spPr>
          <a:xfrm>
            <a:off x="4645074" y="3871912"/>
            <a:ext cx="2901999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eda_plots.png (Visualizations of distribution) and ml_model.png (Feature importance &amp; performance).</a:t>
            </a:r>
            <a:endParaRPr/>
          </a:p>
        </p:txBody>
      </p:sp>
      <p:sp>
        <p:nvSpPr>
          <p:cNvPr id="438" name="Google Shape;438;p41"/>
          <p:cNvSpPr txBox="1"/>
          <p:nvPr/>
        </p:nvSpPr>
        <p:spPr>
          <a:xfrm>
            <a:off x="8423374" y="3395662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Live Dashboard</a:t>
            </a:r>
            <a:endParaRPr/>
          </a:p>
        </p:txBody>
      </p:sp>
      <p:sp>
        <p:nvSpPr>
          <p:cNvPr id="439" name="Google Shape;439;p41"/>
          <p:cNvSpPr txBox="1"/>
          <p:nvPr/>
        </p:nvSpPr>
        <p:spPr>
          <a:xfrm>
            <a:off x="8423374" y="3871912"/>
            <a:ext cx="2901999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A1B5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dashboard.html (An interactive visualization summary deployed for leadership access and drill-down metrics).</a:t>
            </a:r>
            <a:endParaRPr/>
          </a:p>
        </p:txBody>
      </p:sp>
      <p:pic>
        <p:nvPicPr>
          <p:cNvPr id="440" name="Google Shape;440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860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860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7860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9F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Generated Project Assets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4"/>
          <p:cNvSpPr txBox="1"/>
          <p:nvPr/>
        </p:nvSpPr>
        <p:spPr>
          <a:xfrm>
            <a:off x="3873356" y="2696967"/>
            <a:ext cx="986126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rgbClr val="F8F9FA"/>
                </a:solidFill>
                <a:latin typeface="Outfit SemiBold"/>
                <a:sym typeface="Outfit SemiBold"/>
              </a:rPr>
              <a:t>Thank You</a:t>
            </a:r>
            <a:endParaRPr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1698</Words>
  <Application>Microsoft Office PowerPoint</Application>
  <PresentationFormat>Widescreen</PresentationFormat>
  <Paragraphs>148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Plus Jakarta Sans</vt:lpstr>
      <vt:lpstr>Calibri</vt:lpstr>
      <vt:lpstr>Plus Jakarta Sans SemiBold</vt:lpstr>
      <vt:lpstr>Outfit</vt:lpstr>
      <vt:lpstr>Arial</vt:lpstr>
      <vt:lpstr>Outfit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Sathiyamurthy LS</dc:creator>
  <cp:lastModifiedBy>Shanthini Sathiyamurthy</cp:lastModifiedBy>
  <cp:revision>1</cp:revision>
  <dcterms:modified xsi:type="dcterms:W3CDTF">2026-04-29T04:56:58Z</dcterms:modified>
</cp:coreProperties>
</file>